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2.jpeg" ContentType="image/jpeg"/>
  <Override PartName="/ppt/media/image4.png" ContentType="image/png"/>
  <Override PartName="/ppt/media/image3.png" ContentType="image/png"/>
  <Override PartName="/ppt/media/image5.png" ContentType="image/png"/>
  <Override PartName="/ppt/media/image6.jpeg" ContentType="image/jpeg"/>
  <Override PartName="/ppt/media/image1.jpeg" ContentType="image/jpeg"/>
  <Override PartName="/ppt/media/image7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652680"/>
            <a:ext cx="4260960" cy="156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Google Shape;11;p2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4" name="Google Shape;12;p2"/>
          <p:cNvSpPr/>
          <p:nvPr/>
        </p:nvSpPr>
        <p:spPr>
          <a:xfrm>
            <a:off x="6775560" y="-92880"/>
            <a:ext cx="2544120" cy="5236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1159560"/>
            <a:ext cx="4581000" cy="1044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tkinson Hyperlegible Next Medium"/>
                <a:ea typeface="Atkinson Hyperlegible Next Medium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" name="Google Shape;50;p11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3;p13"/>
          <p:cNvSpPr/>
          <p:nvPr/>
        </p:nvSpPr>
        <p:spPr>
          <a:xfrm>
            <a:off x="0" y="1359720"/>
            <a:ext cx="9143640" cy="3802680"/>
          </a:xfrm>
          <a:prstGeom prst="round1Rect">
            <a:avLst>
              <a:gd name="adj" fmla="val 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68162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4324320" y="181044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4324320" y="344016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6644160" y="181044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6644160" y="3440160"/>
            <a:ext cx="734400" cy="435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lt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" name="Google Shape;63;p13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286080" cy="106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6" name="Google Shape;67;p14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8" name="Google Shape;71;p15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19" name="Google Shape;72;p15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4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74;p16"/>
          <p:cNvSpPr/>
          <p:nvPr/>
        </p:nvSpPr>
        <p:spPr>
          <a:xfrm>
            <a:off x="6775560" y="-92880"/>
            <a:ext cx="2544120" cy="5236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body"/>
          </p:nvPr>
        </p:nvSpPr>
        <p:spPr>
          <a:xfrm>
            <a:off x="5400000" y="0"/>
            <a:ext cx="37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720000" y="793080"/>
            <a:ext cx="3899160" cy="136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5" name="Google Shape;86;p17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7" name="Google Shape;101;p18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28" name="Google Shape;102;p18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0" name="Google Shape;105;p19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3189600" cy="886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2" name="Google Shape;109;p20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33" name="Google Shape;110;p20"/>
          <p:cNvSpPr/>
          <p:nvPr/>
        </p:nvSpPr>
        <p:spPr>
          <a:xfrm flipH="1">
            <a:off x="-720" y="1359720"/>
            <a:ext cx="9143640" cy="3802680"/>
          </a:xfrm>
          <a:prstGeom prst="round1Rect">
            <a:avLst>
              <a:gd name="adj" fmla="val 0"/>
            </a:avLst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4880" y="3092760"/>
            <a:ext cx="3855600" cy="1510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713160" y="835920"/>
            <a:ext cx="1257840" cy="91548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2"/>
                </a:solidFill>
                <a:effectLst/>
                <a:uFillTx/>
                <a:latin typeface="Atkinson Hyperlegible Next Medium"/>
                <a:ea typeface="Atkinson Hyperlegible Next Medium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16;p3"/>
          <p:cNvSpPr/>
          <p:nvPr/>
        </p:nvSpPr>
        <p:spPr>
          <a:xfrm>
            <a:off x="-77040" y="-92880"/>
            <a:ext cx="2621520" cy="52362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7" name="Google Shape;17;p3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112;p21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40" name="Google Shape;113;p21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115;p22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172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4" name="Google Shape;21;p4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45" name="Google Shape;22;p4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7" name="Google Shape;29;p5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9" name="Google Shape;32;p6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50" name="Google Shape;33;p6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47635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3" name="Google Shape;37;p7"/>
          <p:cNvCxnSpPr/>
          <p:nvPr/>
        </p:nvCxnSpPr>
        <p:spPr>
          <a:xfrm>
            <a:off x="-230760" y="233640"/>
            <a:ext cx="9678960" cy="360"/>
          </a:xfrm>
          <a:prstGeom prst="straightConnector1">
            <a:avLst/>
          </a:prstGeom>
          <a:ln w="9525">
            <a:solidFill>
              <a:srgbClr val="bfce84"/>
            </a:solidFill>
            <a:round/>
          </a:ln>
        </p:spPr>
      </p:cxnSp>
      <p:sp>
        <p:nvSpPr>
          <p:cNvPr id="54" name="Google Shape;38;p7"/>
          <p:cNvSpPr/>
          <p:nvPr/>
        </p:nvSpPr>
        <p:spPr>
          <a:xfrm rot="5400000">
            <a:off x="6354000" y="2289600"/>
            <a:ext cx="5181840" cy="56376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68680" y="1307160"/>
            <a:ext cx="560664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135520" y="1441800"/>
            <a:ext cx="4872600" cy="118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121;p25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24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2"/>
    <p:sldLayoutId id="2147483672" r:id="rId3"/>
    <p:sldLayoutId id="2147483673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Relationship Id="rId4" Type="http://schemas.openxmlformats.org/officeDocument/2006/relationships/slideLayout" Target="../slideLayouts/slideLayout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14240" y="657360"/>
            <a:ext cx="4257360" cy="156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Agribot Proposal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ubTitle"/>
          </p:nvPr>
        </p:nvSpPr>
        <p:spPr>
          <a:xfrm>
            <a:off x="714240" y="2381400"/>
            <a:ext cx="425736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AI-driven system for detecting nutrient deficiencies and automated spraying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133;p27" title="freepik__expand__15028.jpeg"/>
          <p:cNvSpPr/>
          <p:nvPr/>
        </p:nvSpPr>
        <p:spPr>
          <a:xfrm>
            <a:off x="5400000" y="0"/>
            <a:ext cx="3743640" cy="5143320"/>
          </a:xfrm>
          <a:prstGeom prst="round1Rect">
            <a:avLst>
              <a:gd name="adj" fmla="val 500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7" name="Google Shape;134;p27"/>
          <p:cNvSpPr/>
          <p:nvPr/>
        </p:nvSpPr>
        <p:spPr>
          <a:xfrm>
            <a:off x="714240" y="4210200"/>
            <a:ext cx="142848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yourwebsite.com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" name="Google Shape;135;p27"/>
          <p:cNvSpPr/>
          <p:nvPr/>
        </p:nvSpPr>
        <p:spPr>
          <a:xfrm>
            <a:off x="2219400" y="4229280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→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23960" y="790560"/>
            <a:ext cx="389520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tkinson Hyperlegible Next Medium"/>
                <a:ea typeface="Atkinson Hyperlegible Next Medium"/>
              </a:rPr>
              <a:t>Introduction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723960" y="2162160"/>
            <a:ext cx="3895200" cy="173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Agriculture remains vital for Sri Lanka; early nutrient deficiency detection is challenging and labor-intensive.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This project proposes an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AI-powered agribot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combining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computer vision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and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IoT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to enable real-time, accurate detection and automated treatment.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Google Shape;183;p32" title="person-caring-protecting-mother-earth-earth-day.jpg"/>
          <p:cNvSpPr/>
          <p:nvPr/>
        </p:nvSpPr>
        <p:spPr>
          <a:xfrm>
            <a:off x="5400000" y="0"/>
            <a:ext cx="3743640" cy="5143320"/>
          </a:xfrm>
          <a:prstGeom prst="round1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2" name="Google Shape;184;p32"/>
          <p:cNvSpPr/>
          <p:nvPr/>
        </p:nvSpPr>
        <p:spPr>
          <a:xfrm>
            <a:off x="723960" y="3971880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165;p30" title="view-city-with-apartment-buildings-green-vegetation (3).jpg"/>
          <p:cNvSpPr/>
          <p:nvPr/>
        </p:nvSpPr>
        <p:spPr>
          <a:xfrm flipH="1">
            <a:off x="0" y="0"/>
            <a:ext cx="3427920" cy="5143320"/>
          </a:xfrm>
          <a:prstGeom prst="round1Rect">
            <a:avLst>
              <a:gd name="adj" fmla="val 500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0" y="3095640"/>
            <a:ext cx="3857400" cy="151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Project Overview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714240" y="-3917520"/>
            <a:ext cx="1257120" cy="5669640"/>
          </a:xfrm>
          <a:prstGeom prst="rect">
            <a:avLst/>
          </a:prstGeom>
          <a:noFill/>
          <a:ln w="0">
            <a:noFill/>
          </a:ln>
          <a:effectLst>
            <a:outerShdw dist="19080" dir="5400000" blurRad="57240" rotWithShape="0">
              <a:srgbClr val="000000">
                <a:alpha val="50000"/>
              </a:srgbClr>
            </a:outerShdw>
          </a:effectLst>
        </p:spPr>
        <p:txBody>
          <a:bodyPr lIns="91440" rIns="91440" tIns="91440" bIns="91440" anchor="b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chemeClr val="dk2"/>
                </a:solidFill>
                <a:effectLst/>
                <a:uFillTx/>
                <a:latin typeface="Albert Sans"/>
                <a:ea typeface="Atkinson Hyperlegible Next Medium"/>
              </a:rPr>
              <a:t>01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68;p30"/>
          <p:cNvSpPr/>
          <p:nvPr/>
        </p:nvSpPr>
        <p:spPr>
          <a:xfrm>
            <a:off x="5867280" y="1095480"/>
            <a:ext cx="142848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69;p30"/>
          <p:cNvSpPr/>
          <p:nvPr/>
        </p:nvSpPr>
        <p:spPr>
          <a:xfrm>
            <a:off x="7372440" y="1104840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Introduction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The system captures plant images, classifies nutrient status with a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CNN model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, and triggers targeted spraying.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Key benefits: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reduced labor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, improved accuracy, and timely interventions for higher yields.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Aim &amp; Objectives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1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Aim: Develop an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AI-powered agribot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 that detects deficiencies and applies corrective sprays automatically.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Objectives: Build ESP32-based robot, train CNN classifier, integrate MQTT for monitoring, and implement a rotating nozzle spraying mechanism.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2" name="image69d1147716379" descr="image69d114771637f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76208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Expected Outcomes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1533600" y="1866960"/>
            <a:ext cx="4295520" cy="168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Accurate real-time detection of nutrient deficiencies using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computer vision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leading to timely interventions and reduced crop loss.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Automated, targeted spraying with a rotating nozzle delivers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precise chemical application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lowering input waste and labor costs while improving yield.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176;p31"/>
          <p:cNvSpPr/>
          <p:nvPr/>
        </p:nvSpPr>
        <p:spPr>
          <a:xfrm>
            <a:off x="723960" y="1924200"/>
            <a:ext cx="65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7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Technical Design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pic>
        <p:nvPicPr>
          <p:cNvPr id="88" name="image69d1147721901" descr="image69d1147721906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</a:rPr>
              <a:t>Hardware Components</a:t>
            </a:r>
            <a:endParaRPr b="0" lang="en-US" sz="26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ESP32-CAM controller, 4-wheel chassis, camera module, four liquid tanks, pumps and solenoid valves, and a servo-driven rotating nozzle.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</a:rPr>
              <a:t>Battery-powered system with modular sensors for scalability and field robustness.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76208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AI Model Configuration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1533600" y="1866960"/>
            <a:ext cx="4295520" cy="168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A supervised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CNN classifier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trained on labeled plant images to detect Healthy, Nitrogen, Phosphorus, and Potassium deficiencies.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Optimized and quantized for deployment on ESP32 for on-device inference and low latency.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3" name="Google Shape;176;p31"/>
          <p:cNvSpPr/>
          <p:nvPr/>
        </p:nvSpPr>
        <p:spPr>
          <a:xfrm>
            <a:off x="723960" y="1924200"/>
            <a:ext cx="65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723960" y="790560"/>
            <a:ext cx="3895200" cy="137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chemeClr val="dk1"/>
                </a:solidFill>
                <a:effectLst/>
                <a:uFillTx/>
                <a:latin typeface="Atkinson Hyperlegible Next Medium"/>
                <a:ea typeface="Atkinson Hyperlegible Next Medium"/>
              </a:rPr>
              <a:t>IoT Architecture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723960" y="2162160"/>
            <a:ext cx="3895200" cy="173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Robot publishes detection, action, and status topics via MQTT for remote monitoring and control.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Dashboard/mobile client enables real-time alerts, logs, and manual override for operational oversight.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183;p32" title="person-caring-protecting-mother-earth-earth-day.jpg"/>
          <p:cNvSpPr/>
          <p:nvPr/>
        </p:nvSpPr>
        <p:spPr>
          <a:xfrm>
            <a:off x="5400000" y="0"/>
            <a:ext cx="3743640" cy="5143320"/>
          </a:xfrm>
          <a:prstGeom prst="round1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184;p32"/>
          <p:cNvSpPr/>
          <p:nvPr/>
        </p:nvSpPr>
        <p:spPr>
          <a:xfrm>
            <a:off x="723960" y="3971880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723960" y="447840"/>
            <a:ext cx="476208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Conclusions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1533600" y="1866960"/>
            <a:ext cx="4295520" cy="1685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The AI-powered agribot integrates </a:t>
            </a:r>
            <a:r>
              <a:rPr b="0" i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CV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embedded AI, and IoT to deliver automated, precise nutrient management. 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Expected impact: </a:t>
            </a:r>
            <a:r>
              <a:rPr b="1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higher yields</a:t>
            </a:r>
            <a:r>
              <a:rPr b="0" lang="en-US" sz="12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lower costs, and scalable adoption for sustainable smart farming.</a:t>
            </a:r>
            <a:endParaRPr b="0" lang="en-US" sz="12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0" name="Google Shape;176;p31"/>
          <p:cNvSpPr/>
          <p:nvPr/>
        </p:nvSpPr>
        <p:spPr>
          <a:xfrm>
            <a:off x="723960" y="1924200"/>
            <a:ext cx="6570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714240" y="-279000"/>
            <a:ext cx="3190680" cy="170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000" strike="noStrike" u="none">
                <a:solidFill>
                  <a:schemeClr val="dk1"/>
                </a:solidFill>
                <a:effectLst/>
                <a:uFillTx/>
                <a:latin typeface="Atkinson Hyperlegible Next SemiBold"/>
                <a:ea typeface="Atkinson Hyperlegible Next SemiBold"/>
              </a:rPr>
              <a:t>Thanks!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subTitle"/>
          </p:nvPr>
        </p:nvSpPr>
        <p:spPr>
          <a:xfrm>
            <a:off x="3905280" y="542880"/>
            <a:ext cx="4333680" cy="81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Do you have any questions?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youremail@freepik.com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+34 654 321 432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3" name="Google Shape;335;p41"/>
          <p:cNvSpPr/>
          <p:nvPr/>
        </p:nvSpPr>
        <p:spPr>
          <a:xfrm>
            <a:off x="714240" y="3962520"/>
            <a:ext cx="256176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2643480" bIns="-264348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Please keep this slide for attribution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4" name="Google Shape;336;p41"/>
          <p:cNvSpPr/>
          <p:nvPr/>
        </p:nvSpPr>
        <p:spPr>
          <a:xfrm>
            <a:off x="714240" y="2276640"/>
            <a:ext cx="1428480" cy="39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yourwebsite.com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Google Shape;337;p41"/>
          <p:cNvSpPr/>
          <p:nvPr/>
        </p:nvSpPr>
        <p:spPr>
          <a:xfrm>
            <a:off x="2219400" y="2295360"/>
            <a:ext cx="105696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↓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06" name="Google Shape;338;p41"/>
          <p:cNvGrpSpPr/>
          <p:nvPr/>
        </p:nvGrpSpPr>
        <p:grpSpPr>
          <a:xfrm>
            <a:off x="800280" y="2953080"/>
            <a:ext cx="275760" cy="275760"/>
            <a:chOff x="800280" y="2953080"/>
            <a:chExt cx="275760" cy="275760"/>
          </a:xfrm>
        </p:grpSpPr>
        <p:sp>
          <p:nvSpPr>
            <p:cNvPr id="107" name="Google Shape;339;p41"/>
            <p:cNvSpPr/>
            <p:nvPr/>
          </p:nvSpPr>
          <p:spPr>
            <a:xfrm>
              <a:off x="800280" y="295308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340;p41"/>
            <p:cNvSpPr/>
            <p:nvPr/>
          </p:nvSpPr>
          <p:spPr>
            <a:xfrm>
              <a:off x="864360" y="301860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2000" bIns="72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341;p41"/>
            <p:cNvSpPr/>
            <p:nvPr/>
          </p:nvSpPr>
          <p:spPr>
            <a:xfrm>
              <a:off x="993960" y="298872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720" bIns="18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0" name="Google Shape;342;p41"/>
          <p:cNvGrpSpPr/>
          <p:nvPr/>
        </p:nvGrpSpPr>
        <p:grpSpPr>
          <a:xfrm>
            <a:off x="1666080" y="2953080"/>
            <a:ext cx="266400" cy="238320"/>
            <a:chOff x="1666080" y="2953080"/>
            <a:chExt cx="266400" cy="238320"/>
          </a:xfrm>
        </p:grpSpPr>
        <p:sp>
          <p:nvSpPr>
            <p:cNvPr id="111" name="Google Shape;343;p41"/>
            <p:cNvSpPr/>
            <p:nvPr/>
          </p:nvSpPr>
          <p:spPr>
            <a:xfrm>
              <a:off x="1675440" y="303732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344;p41"/>
            <p:cNvSpPr/>
            <p:nvPr/>
          </p:nvSpPr>
          <p:spPr>
            <a:xfrm>
              <a:off x="1666080" y="295308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345;p41"/>
            <p:cNvSpPr/>
            <p:nvPr/>
          </p:nvSpPr>
          <p:spPr>
            <a:xfrm>
              <a:off x="1768680" y="303732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7040" bIns="77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" name="Google Shape;346;p41"/>
          <p:cNvSpPr/>
          <p:nvPr/>
        </p:nvSpPr>
        <p:spPr>
          <a:xfrm>
            <a:off x="2530080" y="2953080"/>
            <a:ext cx="291240" cy="237600"/>
          </a:xfrm>
          <a:custGeom>
            <a:avLst/>
            <a:gdLst>
              <a:gd name="textAreaLeft" fmla="*/ 0 w 291240"/>
              <a:gd name="textAreaRight" fmla="*/ 291600 w 291240"/>
              <a:gd name="textAreaTop" fmla="*/ 0 h 237600"/>
              <a:gd name="textAreaBottom" fmla="*/ 237960 h 237600"/>
            </a:gdLst>
            <a:ahLst/>
            <a:cxnLst/>
            <a:rect l="textAreaLeft" t="textAreaTop" r="textAreaRight" b="textAreaBottom"/>
            <a:pathLst>
              <a:path w="7144" h="5835">
                <a:moveTo>
                  <a:pt x="4620" y="0"/>
                </a:moveTo>
                <a:cubicBezTo>
                  <a:pt x="3727" y="0"/>
                  <a:pt x="2977" y="691"/>
                  <a:pt x="2905" y="1572"/>
                </a:cubicBezTo>
                <a:cubicBezTo>
                  <a:pt x="2727" y="1548"/>
                  <a:pt x="2358" y="1441"/>
                  <a:pt x="2262" y="1405"/>
                </a:cubicBezTo>
                <a:cubicBezTo>
                  <a:pt x="1643" y="1203"/>
                  <a:pt x="1072" y="810"/>
                  <a:pt x="631" y="322"/>
                </a:cubicBezTo>
                <a:cubicBezTo>
                  <a:pt x="596" y="298"/>
                  <a:pt x="572" y="274"/>
                  <a:pt x="524" y="262"/>
                </a:cubicBezTo>
                <a:cubicBezTo>
                  <a:pt x="517" y="261"/>
                  <a:pt x="509" y="260"/>
                  <a:pt x="501" y="260"/>
                </a:cubicBezTo>
                <a:cubicBezTo>
                  <a:pt x="436" y="260"/>
                  <a:pt x="367" y="304"/>
                  <a:pt x="346" y="357"/>
                </a:cubicBezTo>
                <a:cubicBezTo>
                  <a:pt x="238" y="572"/>
                  <a:pt x="179" y="810"/>
                  <a:pt x="179" y="1048"/>
                </a:cubicBezTo>
                <a:cubicBezTo>
                  <a:pt x="179" y="1393"/>
                  <a:pt x="286" y="1727"/>
                  <a:pt x="476" y="1977"/>
                </a:cubicBezTo>
                <a:cubicBezTo>
                  <a:pt x="466" y="1975"/>
                  <a:pt x="456" y="1974"/>
                  <a:pt x="446" y="1974"/>
                </a:cubicBezTo>
                <a:cubicBezTo>
                  <a:pt x="397" y="1974"/>
                  <a:pt x="349" y="1997"/>
                  <a:pt x="310" y="2036"/>
                </a:cubicBezTo>
                <a:cubicBezTo>
                  <a:pt x="286" y="2060"/>
                  <a:pt x="286" y="2108"/>
                  <a:pt x="274" y="2143"/>
                </a:cubicBezTo>
                <a:lnTo>
                  <a:pt x="274" y="2203"/>
                </a:lnTo>
                <a:cubicBezTo>
                  <a:pt x="274" y="2655"/>
                  <a:pt x="476" y="3072"/>
                  <a:pt x="822" y="3358"/>
                </a:cubicBezTo>
                <a:cubicBezTo>
                  <a:pt x="786" y="3370"/>
                  <a:pt x="774" y="3405"/>
                  <a:pt x="762" y="3417"/>
                </a:cubicBezTo>
                <a:cubicBezTo>
                  <a:pt x="750" y="3465"/>
                  <a:pt x="727" y="3513"/>
                  <a:pt x="750" y="3548"/>
                </a:cubicBezTo>
                <a:cubicBezTo>
                  <a:pt x="893" y="4024"/>
                  <a:pt x="1262" y="4405"/>
                  <a:pt x="1727" y="4548"/>
                </a:cubicBezTo>
                <a:cubicBezTo>
                  <a:pt x="1310" y="4798"/>
                  <a:pt x="834" y="4941"/>
                  <a:pt x="334" y="4941"/>
                </a:cubicBezTo>
                <a:lnTo>
                  <a:pt x="191" y="4941"/>
                </a:lnTo>
                <a:cubicBezTo>
                  <a:pt x="107" y="4941"/>
                  <a:pt x="36" y="5001"/>
                  <a:pt x="12" y="5084"/>
                </a:cubicBezTo>
                <a:cubicBezTo>
                  <a:pt x="0" y="5156"/>
                  <a:pt x="48" y="5239"/>
                  <a:pt x="107" y="5263"/>
                </a:cubicBezTo>
                <a:cubicBezTo>
                  <a:pt x="727" y="5632"/>
                  <a:pt x="1465" y="5834"/>
                  <a:pt x="2191" y="5834"/>
                </a:cubicBezTo>
                <a:cubicBezTo>
                  <a:pt x="3072" y="5834"/>
                  <a:pt x="3905" y="5560"/>
                  <a:pt x="4596" y="5060"/>
                </a:cubicBezTo>
                <a:cubicBezTo>
                  <a:pt x="4691" y="5001"/>
                  <a:pt x="4691" y="4858"/>
                  <a:pt x="4620" y="4786"/>
                </a:cubicBezTo>
                <a:cubicBezTo>
                  <a:pt x="4587" y="4754"/>
                  <a:pt x="4544" y="4735"/>
                  <a:pt x="4499" y="4735"/>
                </a:cubicBezTo>
                <a:cubicBezTo>
                  <a:pt x="4463" y="4735"/>
                  <a:pt x="4426" y="4748"/>
                  <a:pt x="4394" y="4775"/>
                </a:cubicBezTo>
                <a:cubicBezTo>
                  <a:pt x="3763" y="5215"/>
                  <a:pt x="3013" y="5489"/>
                  <a:pt x="2191" y="5489"/>
                </a:cubicBezTo>
                <a:cubicBezTo>
                  <a:pt x="1727" y="5489"/>
                  <a:pt x="1262" y="5394"/>
                  <a:pt x="846" y="5239"/>
                </a:cubicBezTo>
                <a:cubicBezTo>
                  <a:pt x="1369" y="5144"/>
                  <a:pt x="1846" y="4917"/>
                  <a:pt x="2262" y="4584"/>
                </a:cubicBezTo>
                <a:cubicBezTo>
                  <a:pt x="2310" y="4536"/>
                  <a:pt x="2334" y="4477"/>
                  <a:pt x="2322" y="4417"/>
                </a:cubicBezTo>
                <a:cubicBezTo>
                  <a:pt x="2310" y="4346"/>
                  <a:pt x="2239" y="4286"/>
                  <a:pt x="2155" y="4286"/>
                </a:cubicBezTo>
                <a:cubicBezTo>
                  <a:pt x="1739" y="4263"/>
                  <a:pt x="1369" y="4048"/>
                  <a:pt x="1167" y="3691"/>
                </a:cubicBezTo>
                <a:cubicBezTo>
                  <a:pt x="1250" y="3691"/>
                  <a:pt x="1358" y="3667"/>
                  <a:pt x="1441" y="3643"/>
                </a:cubicBezTo>
                <a:cubicBezTo>
                  <a:pt x="1524" y="3632"/>
                  <a:pt x="1584" y="3572"/>
                  <a:pt x="1584" y="3489"/>
                </a:cubicBezTo>
                <a:cubicBezTo>
                  <a:pt x="1596" y="3405"/>
                  <a:pt x="1536" y="3334"/>
                  <a:pt x="1441" y="3298"/>
                </a:cubicBezTo>
                <a:cubicBezTo>
                  <a:pt x="1000" y="3191"/>
                  <a:pt x="667" y="2822"/>
                  <a:pt x="596" y="2381"/>
                </a:cubicBezTo>
                <a:lnTo>
                  <a:pt x="596" y="2381"/>
                </a:lnTo>
                <a:cubicBezTo>
                  <a:pt x="727" y="2405"/>
                  <a:pt x="869" y="2417"/>
                  <a:pt x="1000" y="2417"/>
                </a:cubicBezTo>
                <a:cubicBezTo>
                  <a:pt x="1084" y="2417"/>
                  <a:pt x="1143" y="2358"/>
                  <a:pt x="1167" y="2274"/>
                </a:cubicBezTo>
                <a:cubicBezTo>
                  <a:pt x="1179" y="2203"/>
                  <a:pt x="1131" y="2143"/>
                  <a:pt x="1072" y="2108"/>
                </a:cubicBezTo>
                <a:cubicBezTo>
                  <a:pt x="703" y="1881"/>
                  <a:pt x="476" y="1488"/>
                  <a:pt x="476" y="1048"/>
                </a:cubicBezTo>
                <a:cubicBezTo>
                  <a:pt x="476" y="953"/>
                  <a:pt x="488" y="846"/>
                  <a:pt x="524" y="738"/>
                </a:cubicBezTo>
                <a:cubicBezTo>
                  <a:pt x="965" y="1191"/>
                  <a:pt x="1524" y="1524"/>
                  <a:pt x="2120" y="1727"/>
                </a:cubicBezTo>
                <a:cubicBezTo>
                  <a:pt x="2120" y="1727"/>
                  <a:pt x="2715" y="1905"/>
                  <a:pt x="2929" y="1917"/>
                </a:cubicBezTo>
                <a:lnTo>
                  <a:pt x="3024" y="1917"/>
                </a:lnTo>
                <a:cubicBezTo>
                  <a:pt x="3096" y="1917"/>
                  <a:pt x="3167" y="1869"/>
                  <a:pt x="3191" y="1798"/>
                </a:cubicBezTo>
                <a:cubicBezTo>
                  <a:pt x="3203" y="1786"/>
                  <a:pt x="3203" y="1750"/>
                  <a:pt x="3203" y="1738"/>
                </a:cubicBezTo>
                <a:lnTo>
                  <a:pt x="3203" y="1703"/>
                </a:lnTo>
                <a:cubicBezTo>
                  <a:pt x="3203" y="953"/>
                  <a:pt x="3810" y="334"/>
                  <a:pt x="4572" y="334"/>
                </a:cubicBezTo>
                <a:cubicBezTo>
                  <a:pt x="4941" y="334"/>
                  <a:pt x="5287" y="488"/>
                  <a:pt x="5549" y="750"/>
                </a:cubicBezTo>
                <a:cubicBezTo>
                  <a:pt x="5585" y="787"/>
                  <a:pt x="5621" y="802"/>
                  <a:pt x="5663" y="802"/>
                </a:cubicBezTo>
                <a:cubicBezTo>
                  <a:pt x="5676" y="802"/>
                  <a:pt x="5689" y="801"/>
                  <a:pt x="5703" y="798"/>
                </a:cubicBezTo>
                <a:cubicBezTo>
                  <a:pt x="5882" y="762"/>
                  <a:pt x="6049" y="738"/>
                  <a:pt x="6203" y="679"/>
                </a:cubicBezTo>
                <a:lnTo>
                  <a:pt x="6203" y="679"/>
                </a:lnTo>
                <a:cubicBezTo>
                  <a:pt x="6120" y="762"/>
                  <a:pt x="6013" y="857"/>
                  <a:pt x="5894" y="917"/>
                </a:cubicBezTo>
                <a:cubicBezTo>
                  <a:pt x="5822" y="965"/>
                  <a:pt x="5787" y="1048"/>
                  <a:pt x="5822" y="1143"/>
                </a:cubicBezTo>
                <a:cubicBezTo>
                  <a:pt x="5846" y="1203"/>
                  <a:pt x="5930" y="1250"/>
                  <a:pt x="6001" y="1250"/>
                </a:cubicBezTo>
                <a:cubicBezTo>
                  <a:pt x="6144" y="1227"/>
                  <a:pt x="6287" y="1215"/>
                  <a:pt x="6418" y="1167"/>
                </a:cubicBezTo>
                <a:lnTo>
                  <a:pt x="6418" y="1167"/>
                </a:lnTo>
                <a:cubicBezTo>
                  <a:pt x="6299" y="1286"/>
                  <a:pt x="6168" y="1405"/>
                  <a:pt x="6013" y="1512"/>
                </a:cubicBezTo>
                <a:cubicBezTo>
                  <a:pt x="5965" y="1548"/>
                  <a:pt x="5941" y="1608"/>
                  <a:pt x="5941" y="1655"/>
                </a:cubicBezTo>
                <a:lnTo>
                  <a:pt x="5941" y="1679"/>
                </a:lnTo>
                <a:lnTo>
                  <a:pt x="5941" y="1703"/>
                </a:lnTo>
                <a:lnTo>
                  <a:pt x="5941" y="1727"/>
                </a:lnTo>
                <a:cubicBezTo>
                  <a:pt x="5941" y="2691"/>
                  <a:pt x="5572" y="3572"/>
                  <a:pt x="4977" y="4227"/>
                </a:cubicBezTo>
                <a:cubicBezTo>
                  <a:pt x="4918" y="4298"/>
                  <a:pt x="4918" y="4405"/>
                  <a:pt x="4977" y="4465"/>
                </a:cubicBezTo>
                <a:cubicBezTo>
                  <a:pt x="5011" y="4499"/>
                  <a:pt x="5053" y="4514"/>
                  <a:pt x="5096" y="4514"/>
                </a:cubicBezTo>
                <a:cubicBezTo>
                  <a:pt x="5143" y="4514"/>
                  <a:pt x="5190" y="4496"/>
                  <a:pt x="5227" y="4465"/>
                </a:cubicBezTo>
                <a:cubicBezTo>
                  <a:pt x="5894" y="3715"/>
                  <a:pt x="6263" y="2762"/>
                  <a:pt x="6287" y="1750"/>
                </a:cubicBezTo>
                <a:cubicBezTo>
                  <a:pt x="6596" y="1524"/>
                  <a:pt x="6846" y="1250"/>
                  <a:pt x="7061" y="917"/>
                </a:cubicBezTo>
                <a:cubicBezTo>
                  <a:pt x="7144" y="857"/>
                  <a:pt x="7132" y="750"/>
                  <a:pt x="7061" y="715"/>
                </a:cubicBezTo>
                <a:cubicBezTo>
                  <a:pt x="7029" y="683"/>
                  <a:pt x="6987" y="667"/>
                  <a:pt x="6937" y="667"/>
                </a:cubicBezTo>
                <a:cubicBezTo>
                  <a:pt x="6912" y="667"/>
                  <a:pt x="6886" y="671"/>
                  <a:pt x="6858" y="679"/>
                </a:cubicBezTo>
                <a:cubicBezTo>
                  <a:pt x="6775" y="726"/>
                  <a:pt x="6680" y="750"/>
                  <a:pt x="6596" y="786"/>
                </a:cubicBezTo>
                <a:cubicBezTo>
                  <a:pt x="6680" y="667"/>
                  <a:pt x="6763" y="512"/>
                  <a:pt x="6823" y="369"/>
                </a:cubicBezTo>
                <a:cubicBezTo>
                  <a:pt x="6834" y="310"/>
                  <a:pt x="6834" y="238"/>
                  <a:pt x="6787" y="191"/>
                </a:cubicBezTo>
                <a:cubicBezTo>
                  <a:pt x="6750" y="153"/>
                  <a:pt x="6703" y="135"/>
                  <a:pt x="6659" y="135"/>
                </a:cubicBezTo>
                <a:cubicBezTo>
                  <a:pt x="6632" y="135"/>
                  <a:pt x="6607" y="142"/>
                  <a:pt x="6584" y="155"/>
                </a:cubicBezTo>
                <a:cubicBezTo>
                  <a:pt x="6322" y="310"/>
                  <a:pt x="6061" y="393"/>
                  <a:pt x="5775" y="441"/>
                </a:cubicBezTo>
                <a:cubicBezTo>
                  <a:pt x="5465" y="143"/>
                  <a:pt x="5048" y="0"/>
                  <a:pt x="462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Google Shape;347;p41" title="view-city-with-apartment-buildings-green-vegetation (2).jpg"/>
          <p:cNvSpPr/>
          <p:nvPr/>
        </p:nvSpPr>
        <p:spPr>
          <a:xfrm flipH="1">
            <a:off x="5610240" y="1359720"/>
            <a:ext cx="3532680" cy="3783600"/>
          </a:xfrm>
          <a:prstGeom prst="round1Rect">
            <a:avLst>
              <a:gd name="adj" fmla="val 50000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6" name="Google Shape;348;p41"/>
          <p:cNvSpPr/>
          <p:nvPr/>
        </p:nvSpPr>
        <p:spPr>
          <a:xfrm>
            <a:off x="714240" y="3333600"/>
            <a:ext cx="274284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0823080" rIns="870823080" tIns="-7080120" bIns="-7080120" anchor="t">
            <a:sp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CREDITS:</a:t>
            </a: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 This presentation template was created by </a:t>
            </a:r>
            <a:r>
              <a:rPr b="1" lang="en" sz="1000" strike="noStrike" u="sng">
                <a:solidFill>
                  <a:schemeClr val="lt1"/>
                </a:solidFill>
                <a:effectLst/>
                <a:uFillTx/>
                <a:latin typeface="Arial"/>
                <a:hlinkClick r:id="rId2"/>
              </a:rPr>
              <a:t>Slidesgo</a:t>
            </a:r>
            <a:r>
              <a:rPr b="0" lang="en" sz="1000" strike="noStrike" u="none">
                <a:solidFill>
                  <a:schemeClr val="lt1"/>
                </a:solidFill>
                <a:effectLst/>
                <a:uFillTx/>
                <a:latin typeface="Arial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lt1"/>
                </a:solidFill>
                <a:effectLst/>
                <a:uFillTx/>
                <a:latin typeface="Arial"/>
                <a:hlinkClick r:id="rId3"/>
              </a:rPr>
              <a:t>Freepik</a:t>
            </a:r>
            <a:r>
              <a:rPr b="0" lang="en" sz="1000" strike="noStrike" u="sng">
                <a:solidFill>
                  <a:schemeClr val="lt1"/>
                </a:solidFill>
                <a:effectLst/>
                <a:uFillTx/>
                <a:latin typeface="Arial"/>
              </a:rPr>
              <a:t> 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ultipurpose Business Template">
  <a:themeElements>
    <a:clrScheme name="Simple Light">
      <a:dk1>
        <a:srgbClr val="bfce84"/>
      </a:dk1>
      <a:lt1>
        <a:srgbClr val="0e2a22"/>
      </a:lt1>
      <a:dk2>
        <a:srgbClr val="fff9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bfce84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2026-04-04T13:39:01Z</dcterms:created>
  <dc:creator>Unknown Creator</dc:creator>
  <dc:description/>
  <dc:language>en-US</dc:language>
  <cp:lastModifiedBy>Unknown Creator</cp:lastModifiedBy>
  <dcterms:modified xsi:type="dcterms:W3CDTF">2026-04-04T13:39:01Z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